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502920" cy="502920"/>
          </a:xfrm>
          <a:prstGeom prst="rect">
            <a:avLst/>
          </a:prstGeom>
          <a:solidFill>
            <a:srgbClr val="73E0C3"/>
          </a:solidFill>
          <a:ln>
            <a:solidFill>
              <a:srgbClr val="73E0C3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071A1B"/>
                </a:solidFill>
                <a:latin typeface="Arial"/>
              </a:rPr>
              <a:t>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66344"/>
            <a:ext cx="2103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7FBFA"/>
                </a:solidFill>
                <a:latin typeface="Arial"/>
              </a:rPr>
              <a:t>QUETZAL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740664"/>
            <a:ext cx="23774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73E0C3"/>
                </a:solidFill>
                <a:latin typeface="Arial"/>
              </a:rPr>
              <a:t>CONEXÃO SEM FRONTEIRAS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206240" cy="1417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800" b="1">
                <a:solidFill>
                  <a:srgbClr val="F7FBFA"/>
                </a:solidFill>
                <a:latin typeface="Arial"/>
              </a:rPr>
              <a:t>Alcance sem</a:t>
            </a:r>
            <a:br/>
            <a:r>
              <a:rPr sz="3800" b="1">
                <a:solidFill>
                  <a:srgbClr val="F7FBFA"/>
                </a:solidFill>
                <a:latin typeface="Arial"/>
              </a:rPr>
              <a:t>fronteiras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971800"/>
            <a:ext cx="406908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73E0C3"/>
                </a:solidFill>
                <a:latin typeface="Arial"/>
              </a:rPr>
              <a:t>Da rede ao cliente.</a:t>
            </a:r>
            <a:br/>
            <a:r>
              <a:rPr sz="2000" b="1">
                <a:solidFill>
                  <a:srgbClr val="73E0C3"/>
                </a:solidFill>
                <a:latin typeface="Arial"/>
              </a:rPr>
              <a:t>Do sinal à decisão.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3886200"/>
            <a:ext cx="388620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DCEDEA"/>
                </a:solidFill>
                <a:latin typeface="Arial"/>
              </a:rPr>
              <a:t>Centro de comando operacional e inteligência governada para telecom em 12 mercados da América Latina.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" y="5166360"/>
            <a:ext cx="3749039" cy="27432"/>
          </a:xfrm>
          <a:prstGeom prst="rect">
            <a:avLst/>
          </a:prstGeom>
          <a:solidFill>
            <a:srgbClr val="D8B768"/>
          </a:solidFill>
          <a:ln w="12700">
            <a:solidFill>
              <a:srgbClr val="D8B7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5321808"/>
            <a:ext cx="4023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0D99B"/>
                </a:solidFill>
                <a:latin typeface="Arial"/>
              </a:rPr>
              <a:t>Liberdade sempre · alcance máximo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64024" y="402336"/>
            <a:ext cx="6885432" cy="5513832"/>
          </a:xfrm>
          <a:prstGeom prst="roundRect">
            <a:avLst/>
          </a:prstGeom>
          <a:solidFill>
            <a:srgbClr val="2A514B"/>
          </a:solidFill>
          <a:ln w="12700">
            <a:solidFill>
              <a:srgbClr val="2A5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mmand-center.png"/>
          <p:cNvPicPr>
            <a:picLocks noChangeAspect="1"/>
          </p:cNvPicPr>
          <p:nvPr/>
        </p:nvPicPr>
        <p:blipFill>
          <a:blip r:embed="rId2"/>
          <a:srcRect l="8915" r="8915"/>
          <a:stretch>
            <a:fillRect/>
          </a:stretch>
        </p:blipFill>
        <p:spPr>
          <a:xfrm>
            <a:off x="4800600" y="438912"/>
            <a:ext cx="6812280" cy="5440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00600" y="5952744"/>
            <a:ext cx="68122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FB0AA"/>
                </a:solidFill>
                <a:latin typeface="Arial"/>
              </a:rPr>
              <a:t>Captura real · deployment publicado · dados sintéticos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565392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8FB0AA"/>
                </a:solidFill>
                <a:latin typeface="Arial"/>
              </a:rPr>
              <a:t>QUETZAL · CONEXÃO SEM FRONTEIRAS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8832" y="6547104"/>
            <a:ext cx="38404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8FB0AA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3E0C3"/>
                </a:solidFill>
                <a:latin typeface="Arial"/>
              </a:rPr>
              <a:t>01 · PROBLEMA TELECOM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10642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7FBFA"/>
                </a:solidFill>
                <a:latin typeface="Arial"/>
              </a:rPr>
              <a:t>O sinal se perde entre silos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41832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B0AA"/>
                </a:solidFill>
                <a:latin typeface="Arial"/>
              </a:rPr>
              <a:t>Rede, cliente, receita e decisão raramente chegam juntos ao mesmo operador.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5532120" cy="4526280"/>
          </a:xfrm>
          <a:prstGeom prst="roundRect">
            <a:avLst/>
          </a:prstGeom>
          <a:solidFill>
            <a:srgbClr val="0B2423"/>
          </a:solidFill>
          <a:ln w="12700">
            <a:solidFill>
              <a:srgbClr val="214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00784"/>
            <a:ext cx="2926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3E0C3"/>
                </a:solidFill>
                <a:latin typeface="Arial"/>
              </a:rPr>
              <a:t>FRICÇÕES OPERACIONAIS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983480" cy="3063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1">
                <a:solidFill>
                  <a:srgbClr val="73E0C3"/>
                </a:solidFill>
                <a:latin typeface="Arial"/>
              </a:rPr>
              <a:t>• </a:t>
            </a:r>
            <a:r>
              <a:rPr sz="1600">
                <a:solidFill>
                  <a:srgbClr val="DCEDEA"/>
                </a:solidFill>
                <a:latin typeface="Arial"/>
              </a:rPr>
              <a:t>Degradação começa na rede, mas emerge em tickets, NPS, cobrança e churn.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1">
                <a:solidFill>
                  <a:srgbClr val="73E0C3"/>
                </a:solidFill>
                <a:latin typeface="Arial"/>
              </a:rPr>
              <a:t>• </a:t>
            </a:r>
            <a:r>
              <a:rPr sz="1600">
                <a:solidFill>
                  <a:srgbClr val="DCEDEA"/>
                </a:solidFill>
                <a:latin typeface="Arial"/>
              </a:rPr>
              <a:t>NOC, atendimento, retenção e liderança operam com prioridades diferentes.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1">
                <a:solidFill>
                  <a:srgbClr val="73E0C3"/>
                </a:solidFill>
                <a:latin typeface="Arial"/>
              </a:rPr>
              <a:t>• </a:t>
            </a:r>
            <a:r>
              <a:rPr sz="1600">
                <a:solidFill>
                  <a:srgbClr val="DCEDEA"/>
                </a:solidFill>
                <a:latin typeface="Arial"/>
              </a:rPr>
              <a:t>Um score isolado não diz quem abordar, com qual oferta ou por quê.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1">
                <a:solidFill>
                  <a:srgbClr val="73E0C3"/>
                </a:solidFill>
                <a:latin typeface="Arial"/>
              </a:rPr>
              <a:t>• </a:t>
            </a:r>
            <a:r>
              <a:rPr sz="1600">
                <a:solidFill>
                  <a:srgbClr val="DCEDEA"/>
                </a:solidFill>
                <a:latin typeface="Arial"/>
              </a:rPr>
              <a:t>IA sem escopo, evidência e aprovação aumenta o risco operacional.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5266944"/>
            <a:ext cx="4956048" cy="429768"/>
          </a:xfrm>
          <a:prstGeom prst="roundRect">
            <a:avLst/>
          </a:prstGeom>
          <a:solidFill>
            <a:srgbClr val="10302E"/>
          </a:solidFill>
          <a:ln w="12700">
            <a:solidFill>
              <a:srgbClr val="D8B7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376672"/>
            <a:ext cx="4572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D99B"/>
                </a:solidFill>
                <a:latin typeface="Arial"/>
              </a:rPr>
              <a:t>Da correlação à decisão explicável e executável.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64224" y="1417320"/>
            <a:ext cx="2450592" cy="1298448"/>
          </a:xfrm>
          <a:prstGeom prst="roundRect">
            <a:avLst/>
          </a:prstGeom>
          <a:solidFill>
            <a:srgbClr val="0B2423"/>
          </a:solidFill>
          <a:ln w="12700">
            <a:solidFill>
              <a:srgbClr val="214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527048"/>
            <a:ext cx="215798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73E0C3"/>
                </a:solidFill>
                <a:latin typeface="Arial"/>
              </a:rPr>
              <a:t>PRIORIDADE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1773936"/>
            <a:ext cx="2157984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7FBFA"/>
                </a:solidFill>
                <a:latin typeface="Arial"/>
              </a:rPr>
              <a:t>Incidente → cliente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167128"/>
            <a:ext cx="2157984" cy="47548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FB0AA"/>
                </a:solidFill>
                <a:latin typeface="Arial"/>
              </a:rPr>
              <a:t>Receita e população expostas no mesmo contexto.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4272" y="1417320"/>
            <a:ext cx="2450592" cy="1298448"/>
          </a:xfrm>
          <a:prstGeom prst="roundRect">
            <a:avLst/>
          </a:prstGeom>
          <a:solidFill>
            <a:srgbClr val="0B2423"/>
          </a:solidFill>
          <a:ln w="12700">
            <a:solidFill>
              <a:srgbClr val="214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0576" y="1527048"/>
            <a:ext cx="215798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73E0C3"/>
                </a:solidFill>
                <a:latin typeface="Arial"/>
              </a:rPr>
              <a:t>RETENÇÃO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0576" y="1773936"/>
            <a:ext cx="2157984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7FBFA"/>
                </a:solidFill>
                <a:latin typeface="Arial"/>
              </a:rPr>
              <a:t>Score → 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0576" y="2167128"/>
            <a:ext cx="2157984" cy="47548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FB0AA"/>
                </a:solidFill>
                <a:latin typeface="Arial"/>
              </a:rPr>
              <a:t>SLA, NPS, produto, alcance e consentimento.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64224" y="2953512"/>
            <a:ext cx="2450592" cy="1298448"/>
          </a:xfrm>
          <a:prstGeom prst="roundRect">
            <a:avLst/>
          </a:prstGeom>
          <a:solidFill>
            <a:srgbClr val="0B2423"/>
          </a:solidFill>
          <a:ln w="12700">
            <a:solidFill>
              <a:srgbClr val="214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063240"/>
            <a:ext cx="215798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73E0C3"/>
                </a:solidFill>
                <a:latin typeface="Arial"/>
              </a:rPr>
              <a:t>CAMPANHA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310128"/>
            <a:ext cx="2157984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7FBFA"/>
                </a:solidFill>
                <a:latin typeface="Arial"/>
              </a:rPr>
              <a:t>Audiência → margem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703320"/>
            <a:ext cx="2157984" cy="47548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FB0AA"/>
                </a:solidFill>
                <a:latin typeface="Arial"/>
              </a:rPr>
              <a:t>Capacidade, orçamento e impacto reconciliados.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34272" y="2953512"/>
            <a:ext cx="2450592" cy="1298448"/>
          </a:xfrm>
          <a:prstGeom prst="roundRect">
            <a:avLst/>
          </a:prstGeom>
          <a:solidFill>
            <a:srgbClr val="0B2423"/>
          </a:solidFill>
          <a:ln w="12700">
            <a:solidFill>
              <a:srgbClr val="214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3063240"/>
            <a:ext cx="215798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73E0C3"/>
                </a:solidFill>
                <a:latin typeface="Arial"/>
              </a:rPr>
              <a:t>INTELIGÊNCIA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3310128"/>
            <a:ext cx="2157984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7FBFA"/>
                </a:solidFill>
                <a:latin typeface="Arial"/>
              </a:rPr>
              <a:t>Pergunta → prova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3703320"/>
            <a:ext cx="2157984" cy="47548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FB0AA"/>
                </a:solidFill>
                <a:latin typeface="Arial"/>
              </a:rPr>
              <a:t>SQL, fontes, memória e guardrails visíveis.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4526280"/>
            <a:ext cx="5120640" cy="1417320"/>
          </a:xfrm>
          <a:prstGeom prst="roundRect">
            <a:avLst/>
          </a:prstGeom>
          <a:solidFill>
            <a:srgbClr val="12332F"/>
          </a:solidFill>
          <a:ln w="12700">
            <a:solidFill>
              <a:srgbClr val="2D5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4754880"/>
            <a:ext cx="10972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3E0C3"/>
                </a:solidFill>
                <a:latin typeface="Arial"/>
              </a:rPr>
              <a:t>VALOR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5074920"/>
            <a:ext cx="46177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7FBFA"/>
                </a:solidFill>
                <a:latin typeface="Arial"/>
              </a:rPr>
              <a:t>Uma linha contínua entre incidente, ação humana e resultado econômico.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565392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8FB0AA"/>
                </a:solidFill>
                <a:latin typeface="Arial"/>
              </a:rPr>
              <a:t>QUETZAL · CONEXÃO SEM FRONTEIRAS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28832" y="6547104"/>
            <a:ext cx="38404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8FB0AA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3E0C3"/>
                </a:solidFill>
                <a:latin typeface="Arial"/>
              </a:rPr>
              <a:t>02 · JORNADA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10642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7FBFA"/>
                </a:solidFill>
                <a:latin typeface="Arial"/>
              </a:rPr>
              <a:t>Do preflight ao fechamento econômico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41832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B0AA"/>
                </a:solidFill>
                <a:latin typeface="Arial"/>
              </a:rPr>
              <a:t>O roteiro demonstra decisão ponta a ponta sem disparar workloads caros ou campanhas.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" y="1417320"/>
            <a:ext cx="2075688" cy="1298448"/>
          </a:xfrm>
          <a:prstGeom prst="roundRect">
            <a:avLst/>
          </a:prstGeom>
          <a:solidFill>
            <a:srgbClr val="0B2423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545336"/>
            <a:ext cx="3474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8B768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810512"/>
            <a:ext cx="1645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7FBFA"/>
                </a:solidFill>
                <a:latin typeface="Arial"/>
              </a:rPr>
              <a:t>Validar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148840"/>
            <a:ext cx="17830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B0AA"/>
                </a:solidFill>
                <a:latin typeface="Arial"/>
              </a:rPr>
              <a:t>Warehouse, Genie, IQ, Lakebase, AI/BI e grafo</a:t>
            </a:r>
          </a:p>
        </p:txBody>
      </p:sp>
      <p:sp>
        <p:nvSpPr>
          <p:cNvPr id="9" name="Chevron 8"/>
          <p:cNvSpPr/>
          <p:nvPr/>
        </p:nvSpPr>
        <p:spPr>
          <a:xfrm>
            <a:off x="2688336" y="1810512"/>
            <a:ext cx="210312" cy="457200"/>
          </a:xfrm>
          <a:prstGeom prst="chevron">
            <a:avLst/>
          </a:prstGeom>
          <a:solidFill>
            <a:srgbClr val="0AAE83"/>
          </a:solidFill>
          <a:ln>
            <a:solidFill>
              <a:srgbClr val="0AA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80360" y="1417320"/>
            <a:ext cx="2075688" cy="1298448"/>
          </a:xfrm>
          <a:prstGeom prst="roundRect">
            <a:avLst/>
          </a:prstGeom>
          <a:solidFill>
            <a:srgbClr val="0B2423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08376" y="1545336"/>
            <a:ext cx="3474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8B768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8376" y="1810512"/>
            <a:ext cx="1645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7FBFA"/>
                </a:solidFill>
                <a:latin typeface="Arial"/>
              </a:rPr>
              <a:t>Detectar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8376" y="2148840"/>
            <a:ext cx="17830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B0AA"/>
                </a:solidFill>
                <a:latin typeface="Arial"/>
              </a:rPr>
              <a:t>Incidente, cliente e receita potencialmente expostos</a:t>
            </a:r>
          </a:p>
        </p:txBody>
      </p:sp>
      <p:sp>
        <p:nvSpPr>
          <p:cNvPr id="14" name="Chevron 13"/>
          <p:cNvSpPr/>
          <p:nvPr/>
        </p:nvSpPr>
        <p:spPr>
          <a:xfrm>
            <a:off x="4992624" y="1810512"/>
            <a:ext cx="210312" cy="457200"/>
          </a:xfrm>
          <a:prstGeom prst="chevron">
            <a:avLst/>
          </a:prstGeom>
          <a:solidFill>
            <a:srgbClr val="0AAE83"/>
          </a:solidFill>
          <a:ln>
            <a:solidFill>
              <a:srgbClr val="0AA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84648" y="1417320"/>
            <a:ext cx="2075688" cy="1298448"/>
          </a:xfrm>
          <a:prstGeom prst="roundRect">
            <a:avLst/>
          </a:prstGeom>
          <a:solidFill>
            <a:srgbClr val="0B2423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12664" y="1545336"/>
            <a:ext cx="3474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8B768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2664" y="1810512"/>
            <a:ext cx="1645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7FBFA"/>
                </a:solidFill>
                <a:latin typeface="Arial"/>
              </a:rPr>
              <a:t>Explicar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2148840"/>
            <a:ext cx="17830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B0AA"/>
                </a:solidFill>
                <a:latin typeface="Arial"/>
              </a:rPr>
              <a:t>Churn individual, alcance e exposição separados</a:t>
            </a:r>
          </a:p>
        </p:txBody>
      </p:sp>
      <p:sp>
        <p:nvSpPr>
          <p:cNvPr id="19" name="Chevron 18"/>
          <p:cNvSpPr/>
          <p:nvPr/>
        </p:nvSpPr>
        <p:spPr>
          <a:xfrm>
            <a:off x="7296912" y="1810512"/>
            <a:ext cx="210312" cy="457200"/>
          </a:xfrm>
          <a:prstGeom prst="chevron">
            <a:avLst/>
          </a:prstGeom>
          <a:solidFill>
            <a:srgbClr val="0AAE83"/>
          </a:solidFill>
          <a:ln>
            <a:solidFill>
              <a:srgbClr val="0AA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88936" y="1417320"/>
            <a:ext cx="2075688" cy="1298448"/>
          </a:xfrm>
          <a:prstGeom prst="roundRect">
            <a:avLst/>
          </a:prstGeom>
          <a:solidFill>
            <a:srgbClr val="0B2423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16952" y="1545336"/>
            <a:ext cx="3474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8B768"/>
                </a:solidFill>
                <a:latin typeface="Arial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810512"/>
            <a:ext cx="1645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7FBFA"/>
                </a:solidFill>
                <a:latin typeface="Arial"/>
              </a:rPr>
              <a:t>Decidir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2" y="2148840"/>
            <a:ext cx="17830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B0AA"/>
                </a:solidFill>
                <a:latin typeface="Arial"/>
              </a:rPr>
              <a:t>Voz do Cliente, oferta, consentimento e aprovação</a:t>
            </a:r>
          </a:p>
        </p:txBody>
      </p:sp>
      <p:sp>
        <p:nvSpPr>
          <p:cNvPr id="24" name="Chevron 23"/>
          <p:cNvSpPr/>
          <p:nvPr/>
        </p:nvSpPr>
        <p:spPr>
          <a:xfrm>
            <a:off x="9601200" y="1810512"/>
            <a:ext cx="210312" cy="457200"/>
          </a:xfrm>
          <a:prstGeom prst="chevron">
            <a:avLst/>
          </a:prstGeom>
          <a:solidFill>
            <a:srgbClr val="0AAE83"/>
          </a:solidFill>
          <a:ln>
            <a:solidFill>
              <a:srgbClr val="0AA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93224" y="1417320"/>
            <a:ext cx="2075688" cy="1298448"/>
          </a:xfrm>
          <a:prstGeom prst="roundRect">
            <a:avLst/>
          </a:prstGeom>
          <a:solidFill>
            <a:srgbClr val="0B2423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1545336"/>
            <a:ext cx="3474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8B768"/>
                </a:solidFill>
                <a:latin typeface="Arial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1810512"/>
            <a:ext cx="1645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7FBFA"/>
                </a:solidFill>
                <a:latin typeface="Arial"/>
              </a:rPr>
              <a:t>Reconciliar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2148840"/>
            <a:ext cx="17830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B0AA"/>
                </a:solidFill>
                <a:latin typeface="Arial"/>
              </a:rPr>
              <a:t>Custo, benefício, ROI, sensibilidade e limites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9496" y="3072384"/>
            <a:ext cx="3584448" cy="2377440"/>
          </a:xfrm>
          <a:prstGeom prst="roundRect">
            <a:avLst/>
          </a:prstGeom>
          <a:solidFill>
            <a:srgbClr val="2A514B"/>
          </a:solidFill>
          <a:ln w="12700">
            <a:solidFill>
              <a:srgbClr val="2A5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latform-preflight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76072" y="3108960"/>
            <a:ext cx="3511296" cy="23042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76072" y="5486400"/>
            <a:ext cx="351129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FB0AA"/>
                </a:solidFill>
                <a:latin typeface="Arial"/>
              </a:rPr>
              <a:t>Preflight manual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15968" y="3072384"/>
            <a:ext cx="3584448" cy="2377440"/>
          </a:xfrm>
          <a:prstGeom prst="roundRect">
            <a:avLst/>
          </a:prstGeom>
          <a:solidFill>
            <a:srgbClr val="2A514B"/>
          </a:solidFill>
          <a:ln w="12700">
            <a:solidFill>
              <a:srgbClr val="2A5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customer-360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52544" y="3108960"/>
            <a:ext cx="3511296" cy="230428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352544" y="5486400"/>
            <a:ext cx="351129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FB0AA"/>
                </a:solidFill>
                <a:latin typeface="Arial"/>
              </a:rPr>
              <a:t>Cliente 360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3072384"/>
            <a:ext cx="3584448" cy="2377440"/>
          </a:xfrm>
          <a:prstGeom prst="roundRect">
            <a:avLst/>
          </a:prstGeom>
          <a:solidFill>
            <a:srgbClr val="2A514B"/>
          </a:solidFill>
          <a:ln w="12700">
            <a:solidFill>
              <a:srgbClr val="2A5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economic-journey.png"/>
          <p:cNvPicPr>
            <a:picLocks noChangeAspect="1"/>
          </p:cNvPicPr>
          <p:nvPr/>
        </p:nvPicPr>
        <p:blipFill>
          <a:blip r:embed="rId4"/>
          <a:srcRect t="2750" b="2750"/>
          <a:stretch>
            <a:fillRect/>
          </a:stretch>
        </p:blipFill>
        <p:spPr>
          <a:xfrm>
            <a:off x="8129016" y="3108960"/>
            <a:ext cx="3511296" cy="230428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129016" y="5486400"/>
            <a:ext cx="351129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FB0AA"/>
                </a:solidFill>
                <a:latin typeface="Arial"/>
              </a:rPr>
              <a:t>Fechamento econômico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" y="5760720"/>
            <a:ext cx="109728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0D99B"/>
                </a:solidFill>
                <a:latin typeface="Arial"/>
              </a:rPr>
              <a:t>Nenhuma campanha é enviada. Geração, Lakeflow, ML e grafo permanecem manuais.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565392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8FB0AA"/>
                </a:solidFill>
                <a:latin typeface="Arial"/>
              </a:rPr>
              <a:t>QUETZAL · CONEXÃO SEM FRONTEIRAS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28832" y="6547104"/>
            <a:ext cx="38404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8FB0AA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3E0C3"/>
                </a:solidFill>
                <a:latin typeface="Arial"/>
              </a:rPr>
              <a:t>03 · ARQUITETURA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10642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7FBFA"/>
                </a:solidFill>
                <a:latin typeface="Arial"/>
              </a:rPr>
              <a:t>Uma plataforma, dois ritmos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41832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B0AA"/>
                </a:solidFill>
                <a:latin typeface="Arial"/>
              </a:rPr>
              <a:t>Plano analítico governado no Lakehouse; estado operacional e auditoria no Lakebase.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1920240" cy="4343400"/>
          </a:xfrm>
          <a:prstGeom prst="roundRect">
            <a:avLst/>
          </a:prstGeom>
          <a:solidFill>
            <a:srgbClr val="0B2423"/>
          </a:solidFill>
          <a:ln w="12700">
            <a:solidFill>
              <a:srgbClr val="2B5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719072"/>
            <a:ext cx="15910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3E0C3"/>
                </a:solidFill>
                <a:latin typeface="Arial"/>
              </a:rPr>
              <a:t>FONTES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" y="2267712"/>
            <a:ext cx="1627632" cy="566928"/>
          </a:xfrm>
          <a:prstGeom prst="roundRect">
            <a:avLst/>
          </a:prstGeom>
          <a:solidFill>
            <a:srgbClr val="102B29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432304"/>
            <a:ext cx="13898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7FBFA"/>
                </a:solidFill>
                <a:latin typeface="Arial"/>
              </a:rPr>
              <a:t>OSS / BSS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" y="3017520"/>
            <a:ext cx="1627632" cy="566928"/>
          </a:xfrm>
          <a:prstGeom prst="roundRect">
            <a:avLst/>
          </a:prstGeom>
          <a:solidFill>
            <a:srgbClr val="102B29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3182112"/>
            <a:ext cx="13898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7FBFA"/>
                </a:solidFill>
                <a:latin typeface="Arial"/>
              </a:rPr>
              <a:t>CRM e billing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" y="3767328"/>
            <a:ext cx="1627632" cy="566928"/>
          </a:xfrm>
          <a:prstGeom prst="roundRect">
            <a:avLst/>
          </a:prstGeom>
          <a:solidFill>
            <a:srgbClr val="102B29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31920"/>
            <a:ext cx="13898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7FBFA"/>
                </a:solidFill>
                <a:latin typeface="Arial"/>
              </a:rPr>
              <a:t>NPS e tickets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" y="4517136"/>
            <a:ext cx="1627632" cy="566928"/>
          </a:xfrm>
          <a:prstGeom prst="roundRect">
            <a:avLst/>
          </a:prstGeom>
          <a:solidFill>
            <a:srgbClr val="102B29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4681728"/>
            <a:ext cx="13898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7FBFA"/>
                </a:solidFill>
                <a:latin typeface="Arial"/>
              </a:rPr>
              <a:t>Telemetria e CDR</a:t>
            </a:r>
          </a:p>
        </p:txBody>
      </p:sp>
      <p:sp>
        <p:nvSpPr>
          <p:cNvPr id="15" name="Chevron 14"/>
          <p:cNvSpPr/>
          <p:nvPr/>
        </p:nvSpPr>
        <p:spPr>
          <a:xfrm>
            <a:off x="2651760" y="3337560"/>
            <a:ext cx="164592" cy="502920"/>
          </a:xfrm>
          <a:prstGeom prst="chevron">
            <a:avLst/>
          </a:prstGeom>
          <a:solidFill>
            <a:srgbClr val="0AAE83"/>
          </a:solidFill>
          <a:ln>
            <a:solidFill>
              <a:srgbClr val="0AA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88920" y="1554480"/>
            <a:ext cx="2148840" cy="4343400"/>
          </a:xfrm>
          <a:prstGeom prst="roundRect">
            <a:avLst/>
          </a:prstGeom>
          <a:solidFill>
            <a:srgbClr val="10302E"/>
          </a:solidFill>
          <a:ln w="12700">
            <a:solidFill>
              <a:srgbClr val="2B5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53512" y="1719072"/>
            <a:ext cx="18196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3E0C3"/>
                </a:solidFill>
                <a:latin typeface="Arial"/>
              </a:rPr>
              <a:t>LAKEHOUSE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35224" y="2267712"/>
            <a:ext cx="1856232" cy="566928"/>
          </a:xfrm>
          <a:prstGeom prst="roundRect">
            <a:avLst/>
          </a:prstGeom>
          <a:solidFill>
            <a:srgbClr val="102B29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54096" y="2432304"/>
            <a:ext cx="1618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7FBFA"/>
                </a:solidFill>
                <a:latin typeface="Arial"/>
              </a:rPr>
              <a:t>Lakeflow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35224" y="3017520"/>
            <a:ext cx="1856232" cy="566928"/>
          </a:xfrm>
          <a:prstGeom prst="roundRect">
            <a:avLst/>
          </a:prstGeom>
          <a:solidFill>
            <a:srgbClr val="102B29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3182112"/>
            <a:ext cx="1618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7FBFA"/>
                </a:solidFill>
                <a:latin typeface="Arial"/>
              </a:rPr>
              <a:t>Unity Catalog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35224" y="3767328"/>
            <a:ext cx="1856232" cy="566928"/>
          </a:xfrm>
          <a:prstGeom prst="roundRect">
            <a:avLst/>
          </a:prstGeom>
          <a:solidFill>
            <a:srgbClr val="102B29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54096" y="3931920"/>
            <a:ext cx="1618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7FBFA"/>
                </a:solidFill>
                <a:latin typeface="Arial"/>
              </a:rPr>
              <a:t>MLflow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35224" y="4517136"/>
            <a:ext cx="1856232" cy="566928"/>
          </a:xfrm>
          <a:prstGeom prst="roundRect">
            <a:avLst/>
          </a:prstGeom>
          <a:solidFill>
            <a:srgbClr val="102B29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54096" y="4681728"/>
            <a:ext cx="1618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7FBFA"/>
                </a:solidFill>
                <a:latin typeface="Arial"/>
              </a:rPr>
              <a:t>Gold + triplas</a:t>
            </a:r>
          </a:p>
        </p:txBody>
      </p:sp>
      <p:sp>
        <p:nvSpPr>
          <p:cNvPr id="26" name="Chevron 25"/>
          <p:cNvSpPr/>
          <p:nvPr/>
        </p:nvSpPr>
        <p:spPr>
          <a:xfrm>
            <a:off x="4983480" y="3337560"/>
            <a:ext cx="164592" cy="502920"/>
          </a:xfrm>
          <a:prstGeom prst="chevron">
            <a:avLst/>
          </a:prstGeom>
          <a:solidFill>
            <a:srgbClr val="0AAE83"/>
          </a:solidFill>
          <a:ln>
            <a:solidFill>
              <a:srgbClr val="0AA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120640" y="1554480"/>
            <a:ext cx="2148840" cy="4343400"/>
          </a:xfrm>
          <a:prstGeom prst="roundRect">
            <a:avLst/>
          </a:prstGeom>
          <a:solidFill>
            <a:srgbClr val="10302E"/>
          </a:solidFill>
          <a:ln w="12700">
            <a:solidFill>
              <a:srgbClr val="2B5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85231" y="1719072"/>
            <a:ext cx="18196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3E0C3"/>
                </a:solidFill>
                <a:latin typeface="Arial"/>
              </a:rPr>
              <a:t>INTELIGÊNCIA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66944" y="2267712"/>
            <a:ext cx="1856232" cy="566928"/>
          </a:xfrm>
          <a:prstGeom prst="roundRect">
            <a:avLst/>
          </a:prstGeom>
          <a:solidFill>
            <a:srgbClr val="102B29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85816" y="2432304"/>
            <a:ext cx="1618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7FBFA"/>
                </a:solidFill>
                <a:latin typeface="Arial"/>
              </a:rPr>
              <a:t>Genie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66944" y="3017520"/>
            <a:ext cx="1856232" cy="566928"/>
          </a:xfrm>
          <a:prstGeom prst="roundRect">
            <a:avLst/>
          </a:prstGeom>
          <a:solidFill>
            <a:srgbClr val="102B29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85816" y="3182112"/>
            <a:ext cx="1618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7FBFA"/>
                </a:solidFill>
                <a:latin typeface="Arial"/>
              </a:rPr>
              <a:t>AI/BI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66944" y="3767328"/>
            <a:ext cx="1856232" cy="566928"/>
          </a:xfrm>
          <a:prstGeom prst="roundRect">
            <a:avLst/>
          </a:prstGeom>
          <a:solidFill>
            <a:srgbClr val="102B29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85816" y="3931920"/>
            <a:ext cx="1618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7FBFA"/>
                </a:solidFill>
                <a:latin typeface="Arial"/>
              </a:rPr>
              <a:t>Unity AI Gateway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66944" y="4517136"/>
            <a:ext cx="1856232" cy="566928"/>
          </a:xfrm>
          <a:prstGeom prst="roundRect">
            <a:avLst/>
          </a:prstGeom>
          <a:solidFill>
            <a:srgbClr val="102B29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85816" y="4681728"/>
            <a:ext cx="1618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7FBFA"/>
                </a:solidFill>
                <a:latin typeface="Arial"/>
              </a:rPr>
              <a:t>Graph + OntoBricks</a:t>
            </a:r>
          </a:p>
        </p:txBody>
      </p:sp>
      <p:sp>
        <p:nvSpPr>
          <p:cNvPr id="37" name="Chevron 36"/>
          <p:cNvSpPr/>
          <p:nvPr/>
        </p:nvSpPr>
        <p:spPr>
          <a:xfrm>
            <a:off x="7315199" y="3337560"/>
            <a:ext cx="164592" cy="502920"/>
          </a:xfrm>
          <a:prstGeom prst="chevron">
            <a:avLst/>
          </a:prstGeom>
          <a:solidFill>
            <a:srgbClr val="0AAE83"/>
          </a:solidFill>
          <a:ln>
            <a:solidFill>
              <a:srgbClr val="0AA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452360" y="1554480"/>
            <a:ext cx="2148840" cy="4343400"/>
          </a:xfrm>
          <a:prstGeom prst="roundRect">
            <a:avLst/>
          </a:prstGeom>
          <a:solidFill>
            <a:srgbClr val="10302E"/>
          </a:solidFill>
          <a:ln w="12700">
            <a:solidFill>
              <a:srgbClr val="2B5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16952" y="1719072"/>
            <a:ext cx="18196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3E0C3"/>
                </a:solidFill>
                <a:latin typeface="Arial"/>
              </a:rPr>
              <a:t>APLICAÇÃO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98664" y="2267712"/>
            <a:ext cx="1856232" cy="566928"/>
          </a:xfrm>
          <a:prstGeom prst="roundRect">
            <a:avLst/>
          </a:prstGeom>
          <a:solidFill>
            <a:srgbClr val="102B29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17536" y="2432304"/>
            <a:ext cx="1618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7FBFA"/>
                </a:solidFill>
                <a:latin typeface="Arial"/>
              </a:rPr>
              <a:t>FastAPI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98664" y="3017520"/>
            <a:ext cx="1856232" cy="566928"/>
          </a:xfrm>
          <a:prstGeom prst="roundRect">
            <a:avLst/>
          </a:prstGeom>
          <a:solidFill>
            <a:srgbClr val="102B29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17536" y="3182112"/>
            <a:ext cx="1618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7FBFA"/>
                </a:solidFill>
                <a:latin typeface="Arial"/>
              </a:rPr>
              <a:t>React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98664" y="3767328"/>
            <a:ext cx="1856232" cy="566928"/>
          </a:xfrm>
          <a:prstGeom prst="roundRect">
            <a:avLst/>
          </a:prstGeom>
          <a:solidFill>
            <a:srgbClr val="102B29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17536" y="3931920"/>
            <a:ext cx="1618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7FBFA"/>
                </a:solidFill>
                <a:latin typeface="Arial"/>
              </a:rPr>
              <a:t>Databricks Apps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98664" y="4517136"/>
            <a:ext cx="1856232" cy="566928"/>
          </a:xfrm>
          <a:prstGeom prst="roundRect">
            <a:avLst/>
          </a:prstGeom>
          <a:solidFill>
            <a:srgbClr val="102B29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17536" y="4681728"/>
            <a:ext cx="1618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7FBFA"/>
                </a:solidFill>
                <a:latin typeface="Arial"/>
              </a:rPr>
              <a:t>Identidade gerenciada</a:t>
            </a:r>
          </a:p>
        </p:txBody>
      </p:sp>
      <p:sp>
        <p:nvSpPr>
          <p:cNvPr id="48" name="Chevron 47"/>
          <p:cNvSpPr/>
          <p:nvPr/>
        </p:nvSpPr>
        <p:spPr>
          <a:xfrm>
            <a:off x="9646920" y="3337560"/>
            <a:ext cx="164592" cy="502920"/>
          </a:xfrm>
          <a:prstGeom prst="chevron">
            <a:avLst/>
          </a:prstGeom>
          <a:solidFill>
            <a:srgbClr val="0AAE83"/>
          </a:solidFill>
          <a:ln>
            <a:solidFill>
              <a:srgbClr val="0AA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784080" y="1554480"/>
            <a:ext cx="1737360" cy="4343400"/>
          </a:xfrm>
          <a:prstGeom prst="roundRect">
            <a:avLst/>
          </a:prstGeom>
          <a:solidFill>
            <a:srgbClr val="0B2423"/>
          </a:solidFill>
          <a:ln w="12700">
            <a:solidFill>
              <a:srgbClr val="2B5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48672" y="1719072"/>
            <a:ext cx="140817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3E0C3"/>
                </a:solidFill>
                <a:latin typeface="Arial"/>
              </a:rPr>
              <a:t>ESTADO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30384" y="2267712"/>
            <a:ext cx="1444751" cy="566928"/>
          </a:xfrm>
          <a:prstGeom prst="roundRect">
            <a:avLst/>
          </a:prstGeom>
          <a:solidFill>
            <a:srgbClr val="102B29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49255" y="2432304"/>
            <a:ext cx="1207007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7FBFA"/>
                </a:solidFill>
                <a:latin typeface="Arial"/>
              </a:rPr>
              <a:t>Lakebase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30384" y="3017520"/>
            <a:ext cx="1444751" cy="566928"/>
          </a:xfrm>
          <a:prstGeom prst="roundRect">
            <a:avLst/>
          </a:prstGeom>
          <a:solidFill>
            <a:srgbClr val="102B29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49255" y="3182112"/>
            <a:ext cx="1207007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7FBFA"/>
                </a:solidFill>
                <a:latin typeface="Arial"/>
              </a:rPr>
              <a:t>Casos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30384" y="3767328"/>
            <a:ext cx="1444751" cy="566928"/>
          </a:xfrm>
          <a:prstGeom prst="roundRect">
            <a:avLst/>
          </a:prstGeom>
          <a:solidFill>
            <a:srgbClr val="102B29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49255" y="3931920"/>
            <a:ext cx="1207007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7FBFA"/>
                </a:solidFill>
                <a:latin typeface="Arial"/>
              </a:rPr>
              <a:t>Campanhas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930384" y="4517136"/>
            <a:ext cx="1444751" cy="566928"/>
          </a:xfrm>
          <a:prstGeom prst="roundRect">
            <a:avLst/>
          </a:prstGeom>
          <a:solidFill>
            <a:srgbClr val="102B29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49255" y="4681728"/>
            <a:ext cx="1207007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7FBFA"/>
                </a:solidFill>
                <a:latin typeface="Arial"/>
              </a:rPr>
              <a:t>Memória + auditoria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063240" y="6089904"/>
            <a:ext cx="6126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0D99B"/>
                </a:solidFill>
                <a:latin typeface="Arial"/>
              </a:rPr>
              <a:t>DAB = código + recursos + promoção reproduzível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6565392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8FB0AA"/>
                </a:solidFill>
                <a:latin typeface="Arial"/>
              </a:rPr>
              <a:t>QUETZAL · CONEXÃO SEM FRONTEIRAS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28832" y="6547104"/>
            <a:ext cx="38404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8FB0AA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3E0C3"/>
                </a:solidFill>
                <a:latin typeface="Arial"/>
              </a:rPr>
              <a:t>04 · EXPERIÊNCIA OPERACIONAL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10642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7FBFA"/>
                </a:solidFill>
                <a:latin typeface="Arial"/>
              </a:rPr>
              <a:t>Centro de mando: decidir antes que o sinal se perca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41832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B0AA"/>
                </a:solidFill>
                <a:latin typeface="Arial"/>
              </a:rPr>
              <a:t>A home prioriza sinal, clientes, receita, rede e ações nos 12 mercados.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" y="1353312"/>
            <a:ext cx="7799831" cy="4782312"/>
          </a:xfrm>
          <a:prstGeom prst="roundRect">
            <a:avLst/>
          </a:prstGeom>
          <a:solidFill>
            <a:srgbClr val="2A514B"/>
          </a:solidFill>
          <a:ln w="12700">
            <a:solidFill>
              <a:srgbClr val="2A5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mmand-center.png"/>
          <p:cNvPicPr>
            <a:picLocks noChangeAspect="1"/>
          </p:cNvPicPr>
          <p:nvPr/>
        </p:nvPicPr>
        <p:blipFill>
          <a:blip r:embed="rId2"/>
          <a:srcRect t="3564" b="3564"/>
          <a:stretch>
            <a:fillRect/>
          </a:stretch>
        </p:blipFill>
        <p:spPr>
          <a:xfrm>
            <a:off x="576072" y="1389888"/>
            <a:ext cx="7726679" cy="4709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6072" y="6172200"/>
            <a:ext cx="7726679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FB0AA"/>
                </a:solidFill>
                <a:latin typeface="Arial"/>
              </a:rPr>
              <a:t>Centro de mando · tela real do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1389888"/>
            <a:ext cx="2944368" cy="1325880"/>
          </a:xfrm>
          <a:prstGeom prst="roundRect">
            <a:avLst/>
          </a:prstGeom>
          <a:solidFill>
            <a:srgbClr val="0B2423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554480"/>
            <a:ext cx="24688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3E0C3"/>
                </a:solidFill>
                <a:latin typeface="Arial"/>
              </a:rPr>
              <a:t>SINAL PRIORITÁRIO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865376"/>
            <a:ext cx="2450592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7FBFA"/>
                </a:solidFill>
                <a:latin typeface="Arial"/>
              </a:rPr>
              <a:t>Narrativa operacional conecta rede, risco e decisão.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2944368"/>
            <a:ext cx="2944368" cy="1325880"/>
          </a:xfrm>
          <a:prstGeom prst="roundRect">
            <a:avLst/>
          </a:prstGeom>
          <a:solidFill>
            <a:srgbClr val="0B2423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3108960"/>
            <a:ext cx="24688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3E0C3"/>
                </a:solidFill>
                <a:latin typeface="Arial"/>
              </a:rPr>
              <a:t>IMPACTO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419856"/>
            <a:ext cx="2450592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7FBFA"/>
                </a:solidFill>
                <a:latin typeface="Arial"/>
              </a:rPr>
              <a:t>Incidentes críticos e valor mensal em risco na mesma leitura.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4498848"/>
            <a:ext cx="2944368" cy="1325880"/>
          </a:xfrm>
          <a:prstGeom prst="roundRect">
            <a:avLst/>
          </a:prstGeom>
          <a:solidFill>
            <a:srgbClr val="0B2423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4663440"/>
            <a:ext cx="24688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3E0C3"/>
                </a:solidFill>
                <a:latin typeface="Arial"/>
              </a:rPr>
              <a:t>ALCANCE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4974336"/>
            <a:ext cx="2450592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7FBFA"/>
                </a:solidFill>
                <a:latin typeface="Arial"/>
              </a:rPr>
              <a:t>KPIs por mercado sem confundir saúde de rede com SLA.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565392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8FB0AA"/>
                </a:solidFill>
                <a:latin typeface="Arial"/>
              </a:rPr>
              <a:t>QUETZAL · CONEXÃO SEM FRONTEIRAS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28832" y="6547104"/>
            <a:ext cx="38404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8FB0AA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3E0C3"/>
                </a:solidFill>
                <a:latin typeface="Arial"/>
              </a:rPr>
              <a:t>05 · CLIENTE 360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10642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7FBFA"/>
                </a:solidFill>
                <a:latin typeface="Arial"/>
              </a:rPr>
              <a:t>Cada cliente, sem pontos cegos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41832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B0AA"/>
                </a:solidFill>
                <a:latin typeface="Arial"/>
              </a:rPr>
              <a:t>Produto, experiência, SLA, valor, churn e próxima ação em uma visão governada.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" y="1353312"/>
            <a:ext cx="7799831" cy="4782312"/>
          </a:xfrm>
          <a:prstGeom prst="roundRect">
            <a:avLst/>
          </a:prstGeom>
          <a:solidFill>
            <a:srgbClr val="2A514B"/>
          </a:solidFill>
          <a:ln w="12700">
            <a:solidFill>
              <a:srgbClr val="2A5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ustomer-360.png"/>
          <p:cNvPicPr>
            <a:picLocks noChangeAspect="1"/>
          </p:cNvPicPr>
          <p:nvPr/>
        </p:nvPicPr>
        <p:blipFill>
          <a:blip r:embed="rId2"/>
          <a:srcRect t="3564" b="3564"/>
          <a:stretch>
            <a:fillRect/>
          </a:stretch>
        </p:blipFill>
        <p:spPr>
          <a:xfrm>
            <a:off x="576072" y="1389888"/>
            <a:ext cx="7726679" cy="4709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6072" y="6172200"/>
            <a:ext cx="7726679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FB0AA"/>
                </a:solidFill>
                <a:latin typeface="Arial"/>
              </a:rPr>
              <a:t>Cliente 360 · identidades de cliente sintéticas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1389888"/>
            <a:ext cx="2926080" cy="1234440"/>
          </a:xfrm>
          <a:prstGeom prst="roundRect">
            <a:avLst/>
          </a:prstGeom>
          <a:solidFill>
            <a:srgbClr val="0B2423"/>
          </a:solidFill>
          <a:ln w="12700">
            <a:solidFill>
              <a:srgbClr val="214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87384" y="1499616"/>
            <a:ext cx="263347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73E0C3"/>
                </a:solidFill>
                <a:latin typeface="Arial"/>
              </a:rPr>
              <a:t>MODELO INDIVIDUAL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87384" y="1746504"/>
            <a:ext cx="263347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7FBFA"/>
                </a:solidFill>
                <a:latin typeface="Arial"/>
              </a:rPr>
              <a:t>Churn ≠ grafo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87384" y="2139696"/>
            <a:ext cx="263347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FB0AA"/>
                </a:solidFill>
                <a:latin typeface="Arial"/>
              </a:rPr>
              <a:t>A probabilidade ML continua sendo a única probabilidade de churn.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2788920"/>
            <a:ext cx="2926080" cy="1234440"/>
          </a:xfrm>
          <a:prstGeom prst="roundRect">
            <a:avLst/>
          </a:prstGeom>
          <a:solidFill>
            <a:srgbClr val="0B2423"/>
          </a:solidFill>
          <a:ln w="12700">
            <a:solidFill>
              <a:srgbClr val="214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87384" y="2898648"/>
            <a:ext cx="263347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73E0C3"/>
                </a:solidFill>
                <a:latin typeface="Arial"/>
              </a:rPr>
              <a:t>PRÓXIMA MELHOR 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7384" y="3145536"/>
            <a:ext cx="263347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7FBFA"/>
                </a:solidFill>
                <a:latin typeface="Arial"/>
              </a:rPr>
              <a:t>Oferta elegível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87384" y="3538727"/>
            <a:ext cx="263347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FB0AA"/>
                </a:solidFill>
                <a:latin typeface="Arial"/>
              </a:rPr>
              <a:t>Consentimento, produto atual, NPS, SLA e valor orientam a ação.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4187952"/>
            <a:ext cx="2926080" cy="1234440"/>
          </a:xfrm>
          <a:prstGeom prst="roundRect">
            <a:avLst/>
          </a:prstGeom>
          <a:solidFill>
            <a:srgbClr val="0B2423"/>
          </a:solidFill>
          <a:ln w="12700">
            <a:solidFill>
              <a:srgbClr val="214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87384" y="4297680"/>
            <a:ext cx="263347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73E0C3"/>
                </a:solidFill>
                <a:latin typeface="Arial"/>
              </a:rPr>
              <a:t>CICLO FECHADO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87384" y="4544568"/>
            <a:ext cx="263347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7FBFA"/>
                </a:solidFill>
                <a:latin typeface="Arial"/>
              </a:rPr>
              <a:t>Caso + aprovação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87384" y="4937760"/>
            <a:ext cx="263347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FB0AA"/>
                </a:solidFill>
                <a:latin typeface="Arial"/>
              </a:rPr>
              <a:t>Decisão e execução preservam versões, responsável e auditoria.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5577840"/>
            <a:ext cx="2926080" cy="502920"/>
          </a:xfrm>
          <a:prstGeom prst="roundRect">
            <a:avLst/>
          </a:prstGeom>
          <a:solidFill>
            <a:srgbClr val="12332F"/>
          </a:solidFill>
          <a:ln w="12700">
            <a:solidFill>
              <a:srgbClr val="D8B7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96528" y="5733288"/>
            <a:ext cx="261518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0D99B"/>
                </a:solidFill>
                <a:latin typeface="Arial"/>
              </a:rPr>
              <a:t>Sinais separados. Decisão explicável.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65392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8FB0AA"/>
                </a:solidFill>
                <a:latin typeface="Arial"/>
              </a:rPr>
              <a:t>QUETZAL · CONEXÃO SEM FRONTEIRAS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28832" y="6547104"/>
            <a:ext cx="38404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8FB0AA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3E0C3"/>
                </a:solidFill>
                <a:latin typeface="Arial"/>
              </a:rPr>
              <a:t>06 · INTELIGÊNCIA GOVERNADA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10642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7FBFA"/>
                </a:solidFill>
                <a:latin typeface="Arial"/>
              </a:rPr>
              <a:t>Duas formas de investigar com evidência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41832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B0AA"/>
                </a:solidFill>
                <a:latin typeface="Arial"/>
              </a:rPr>
              <a:t>Genie responde sobre dados; Quetzal IQ combina ferramentas curadas, fontes e memória.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" y="1353312"/>
            <a:ext cx="5559552" cy="3685032"/>
          </a:xfrm>
          <a:prstGeom prst="roundRect">
            <a:avLst/>
          </a:prstGeom>
          <a:solidFill>
            <a:srgbClr val="2A514B"/>
          </a:solidFill>
          <a:ln w="12700">
            <a:solidFill>
              <a:srgbClr val="2A5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enie-response-chart.png"/>
          <p:cNvPicPr>
            <a:picLocks noChangeAspect="1"/>
          </p:cNvPicPr>
          <p:nvPr/>
        </p:nvPicPr>
        <p:blipFill>
          <a:blip r:embed="rId2"/>
          <a:srcRect l="158" r="158"/>
          <a:stretch>
            <a:fillRect/>
          </a:stretch>
        </p:blipFill>
        <p:spPr>
          <a:xfrm>
            <a:off x="576072" y="1389888"/>
            <a:ext cx="5486400" cy="3611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6072" y="5074920"/>
            <a:ext cx="5486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FB0AA"/>
                </a:solidFill>
                <a:latin typeface="Arial"/>
              </a:rPr>
              <a:t>Genie · SQL, resultado e visualização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8192" y="1353312"/>
            <a:ext cx="5559552" cy="3685032"/>
          </a:xfrm>
          <a:prstGeom prst="roundRect">
            <a:avLst/>
          </a:prstGeom>
          <a:solidFill>
            <a:srgbClr val="2A514B"/>
          </a:solidFill>
          <a:ln w="12700">
            <a:solidFill>
              <a:srgbClr val="2A5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quetzal-iq-sources.png"/>
          <p:cNvPicPr>
            <a:picLocks noChangeAspect="1"/>
          </p:cNvPicPr>
          <p:nvPr/>
        </p:nvPicPr>
        <p:blipFill>
          <a:blip r:embed="rId3"/>
          <a:srcRect l="158" r="158"/>
          <a:stretch>
            <a:fillRect/>
          </a:stretch>
        </p:blipFill>
        <p:spPr>
          <a:xfrm>
            <a:off x="6144768" y="1389888"/>
            <a:ext cx="5486400" cy="3611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44768" y="5074920"/>
            <a:ext cx="5486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FB0AA"/>
                </a:solidFill>
                <a:latin typeface="Arial"/>
              </a:rPr>
              <a:t>Quetzal IQ · pesquisa externa com fontes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" y="5330952"/>
            <a:ext cx="5486400" cy="768096"/>
          </a:xfrm>
          <a:prstGeom prst="roundRect">
            <a:avLst/>
          </a:prstGeom>
          <a:solidFill>
            <a:srgbClr val="0B2423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5513832"/>
            <a:ext cx="7315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3E0C3"/>
                </a:solidFill>
                <a:latin typeface="Arial"/>
              </a:rPr>
              <a:t>GENIE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5468112"/>
            <a:ext cx="42976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7FBFA"/>
                </a:solidFill>
                <a:latin typeface="Arial"/>
              </a:rPr>
              <a:t>Pergunta → SQL visível → resultado → gráfico interativo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5330952"/>
            <a:ext cx="5486400" cy="768096"/>
          </a:xfrm>
          <a:prstGeom prst="roundRect">
            <a:avLst/>
          </a:prstGeom>
          <a:solidFill>
            <a:srgbClr val="0B2423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5513832"/>
            <a:ext cx="11887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3E0C3"/>
                </a:solidFill>
                <a:latin typeface="Arial"/>
              </a:rPr>
              <a:t>QUETZAL IQ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5468112"/>
            <a:ext cx="38404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7FBFA"/>
                </a:solidFill>
                <a:latin typeface="Arial"/>
              </a:rPr>
              <a:t>Ferramentas internas + Deep Research + fontes + continuidade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565392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8FB0AA"/>
                </a:solidFill>
                <a:latin typeface="Arial"/>
              </a:rPr>
              <a:t>QUETZAL · CONEXÃO SEM FRONTEIRAS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28832" y="6547104"/>
            <a:ext cx="38404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8FB0AA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3E0C3"/>
                </a:solidFill>
                <a:latin typeface="Arial"/>
              </a:rPr>
              <a:t>07 · GRAPH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10642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7FBFA"/>
                </a:solidFill>
                <a:latin typeface="Arial"/>
              </a:rPr>
              <a:t>Relacionamentos úteis — sem inventar causalidade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41832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B0AA"/>
                </a:solidFill>
                <a:latin typeface="Arial"/>
              </a:rPr>
              <a:t>A rede organiza alcance, exposição e grupos; OntoBricks publica a semântica navegável.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" y="1353312"/>
            <a:ext cx="7799831" cy="4782312"/>
          </a:xfrm>
          <a:prstGeom prst="roundRect">
            <a:avLst/>
          </a:prstGeom>
          <a:solidFill>
            <a:srgbClr val="2A514B"/>
          </a:solidFill>
          <a:ln w="12700">
            <a:solidFill>
              <a:srgbClr val="2A5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raph-ontobricks.png"/>
          <p:cNvPicPr>
            <a:picLocks noChangeAspect="1"/>
          </p:cNvPicPr>
          <p:nvPr/>
        </p:nvPicPr>
        <p:blipFill>
          <a:blip r:embed="rId2"/>
          <a:srcRect t="1243" b="1243"/>
          <a:stretch>
            <a:fillRect/>
          </a:stretch>
        </p:blipFill>
        <p:spPr>
          <a:xfrm>
            <a:off x="576072" y="1389888"/>
            <a:ext cx="7726679" cy="4709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6072" y="6172200"/>
            <a:ext cx="7726679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FB0AA"/>
                </a:solidFill>
                <a:latin typeface="Arial"/>
              </a:rPr>
              <a:t>Grafo operacional · identidade do operador mascarada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1389888"/>
            <a:ext cx="2999232" cy="4709160"/>
          </a:xfrm>
          <a:prstGeom prst="roundRect">
            <a:avLst/>
          </a:prstGeom>
          <a:solidFill>
            <a:srgbClr val="0B2423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51392" y="1627632"/>
            <a:ext cx="2514600" cy="4160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73E0C3"/>
                </a:solidFill>
                <a:latin typeface="Arial"/>
              </a:rPr>
              <a:t>CHURN INDIVIDUAL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DCEDEA"/>
                </a:solidFill>
                <a:latin typeface="Arial"/>
              </a:rPr>
              <a:t>Probabilidade produzida pelo modelo registrado.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73E0C3"/>
                </a:solidFill>
                <a:latin typeface="Arial"/>
              </a:rPr>
              <a:t>EXPOSIÇÃO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DCEDEA"/>
                </a:solidFill>
                <a:latin typeface="Arial"/>
              </a:rPr>
              <a:t>Risco ponderado dos contatos qualificados.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73E0C3"/>
                </a:solidFill>
                <a:latin typeface="Arial"/>
              </a:rPr>
              <a:t>ALCANCE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DCEDEA"/>
                </a:solidFill>
                <a:latin typeface="Arial"/>
              </a:rPr>
              <a:t>PageRank ponderado; não mede causalidade.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73E0C3"/>
                </a:solidFill>
                <a:latin typeface="Arial"/>
              </a:rPr>
              <a:t>GRUPOS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DCEDEA"/>
                </a:solidFill>
                <a:latin typeface="Arial"/>
              </a:rPr>
              <a:t>Label Propagation para navegação e ação.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73E0C3"/>
                </a:solidFill>
                <a:latin typeface="Arial"/>
              </a:rPr>
              <a:t>ONTOBRICKS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DCEDEA"/>
                </a:solidFill>
                <a:latin typeface="Arial"/>
              </a:rPr>
              <a:t>Ontologia, GraphQL e MCP read-only versionados.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565392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8FB0AA"/>
                </a:solidFill>
                <a:latin typeface="Arial"/>
              </a:rPr>
              <a:t>QUETZAL · CONEXÃO SEM FRONTEIRAS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28832" y="6547104"/>
            <a:ext cx="38404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8FB0AA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3E0C3"/>
                </a:solidFill>
                <a:latin typeface="Arial"/>
              </a:rPr>
              <a:t>08 · CAMPANHAS E ECONOMIA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10642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201D"/>
                </a:solidFill>
                <a:latin typeface="Arial"/>
              </a:rPr>
              <a:t>A mesma audiência. As mesmas premissas.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41832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26C66"/>
                </a:solidFill>
                <a:latin typeface="Arial"/>
              </a:rPr>
              <a:t>O App reconcilia população, benefício, custo, impacto, sensibilidade e break-even.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" y="1353312"/>
            <a:ext cx="7799831" cy="4782312"/>
          </a:xfrm>
          <a:prstGeom prst="roundRect">
            <a:avLst/>
          </a:prstGeom>
          <a:solidFill>
            <a:srgbClr val="B8CDC7"/>
          </a:solidFill>
          <a:ln w="12700">
            <a:solidFill>
              <a:srgbClr val="B8C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conomic-journey.png"/>
          <p:cNvPicPr>
            <a:picLocks noChangeAspect="1"/>
          </p:cNvPicPr>
          <p:nvPr/>
        </p:nvPicPr>
        <p:blipFill>
          <a:blip r:embed="rId2"/>
          <a:srcRect t="6118" b="6118"/>
          <a:stretch>
            <a:fillRect/>
          </a:stretch>
        </p:blipFill>
        <p:spPr>
          <a:xfrm>
            <a:off x="576072" y="1389888"/>
            <a:ext cx="7726679" cy="4709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6072" y="6172200"/>
            <a:ext cx="7726679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D77"/>
                </a:solidFill>
                <a:latin typeface="Arial"/>
              </a:rPr>
              <a:t>Jornada econômica · identidade do operador mascarada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13648" y="1389888"/>
            <a:ext cx="2971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51392" y="1554480"/>
            <a:ext cx="23774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AAE83"/>
                </a:solidFill>
                <a:latin typeface="Arial"/>
              </a:rPr>
              <a:t>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1392" y="1865376"/>
            <a:ext cx="2395728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201D"/>
                </a:solidFill>
                <a:latin typeface="Arial"/>
              </a:rPr>
              <a:t>Consentimento, serviço antes da venda, capacidade e orçamento.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13648" y="2944368"/>
            <a:ext cx="2971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51392" y="3108960"/>
            <a:ext cx="23774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AAE83"/>
                </a:solidFill>
                <a:latin typeface="Arial"/>
              </a:rPr>
              <a:t>DURANTE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1392" y="3419856"/>
            <a:ext cx="2395728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201D"/>
                </a:solidFill>
                <a:latin typeface="Arial"/>
              </a:rPr>
              <a:t>Rascunho versionado, ownership e aprovação segregada.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13648" y="4498848"/>
            <a:ext cx="2971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51392" y="4663440"/>
            <a:ext cx="23774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AAE83"/>
                </a:solidFill>
                <a:latin typeface="Arial"/>
              </a:rPr>
              <a:t>DEPOIS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1392" y="4974336"/>
            <a:ext cx="2395728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201D"/>
                </a:solidFill>
                <a:latin typeface="Arial"/>
              </a:rPr>
              <a:t>Resultado observado deve substituir a projeção contrafactual.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13648" y="5577840"/>
            <a:ext cx="2971800" cy="502920"/>
          </a:xfrm>
          <a:prstGeom prst="roundRect">
            <a:avLst/>
          </a:prstGeom>
          <a:solidFill>
            <a:srgbClr val="E4EFEA"/>
          </a:solidFill>
          <a:ln w="12700">
            <a:solidFill>
              <a:srgbClr val="D8B7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96528" y="5724144"/>
            <a:ext cx="259689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35B22"/>
                </a:solidFill>
                <a:latin typeface="Arial"/>
              </a:rPr>
              <a:t>Estimativa ≠ resultado realizado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565392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647D77"/>
                </a:solidFill>
                <a:latin typeface="Arial"/>
              </a:rPr>
              <a:t>QUETZAL · CONEXÃO SEM FRONTEIRAS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28832" y="6547104"/>
            <a:ext cx="38404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647D77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3E0C3"/>
                </a:solidFill>
                <a:latin typeface="Arial"/>
              </a:rPr>
              <a:t>09 · SEGURANÇA E GOVERNANÇA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10642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7FBFA"/>
                </a:solidFill>
                <a:latin typeface="Arial"/>
              </a:rPr>
              <a:t>A IA não amplia autoridade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41832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B0AA"/>
                </a:solidFill>
                <a:latin typeface="Arial"/>
              </a:rPr>
              <a:t>Preflight, identidade, escopo, ferramentas e aprovação permanecem verificáveis.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" y="1353312"/>
            <a:ext cx="6473952" cy="4261104"/>
          </a:xfrm>
          <a:prstGeom prst="roundRect">
            <a:avLst/>
          </a:prstGeom>
          <a:solidFill>
            <a:srgbClr val="2A514B"/>
          </a:solidFill>
          <a:ln w="12700">
            <a:solidFill>
              <a:srgbClr val="2A5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latform-preflight.png"/>
          <p:cNvPicPr>
            <a:picLocks noChangeAspect="1"/>
          </p:cNvPicPr>
          <p:nvPr/>
        </p:nvPicPr>
        <p:blipFill>
          <a:blip r:embed="rId2"/>
          <a:srcRect t="150" b="150"/>
          <a:stretch>
            <a:fillRect/>
          </a:stretch>
        </p:blipFill>
        <p:spPr>
          <a:xfrm>
            <a:off x="576072" y="1389888"/>
            <a:ext cx="6400800" cy="4187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6072" y="5650992"/>
            <a:ext cx="6400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FB0AA"/>
                </a:solidFill>
                <a:latin typeface="Arial"/>
              </a:rPr>
              <a:t>Preflight manual · 9 dependências prontas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87184" y="1353312"/>
            <a:ext cx="4462272" cy="2121408"/>
          </a:xfrm>
          <a:prstGeom prst="roundRect">
            <a:avLst/>
          </a:prstGeom>
          <a:solidFill>
            <a:srgbClr val="2A514B"/>
          </a:solidFill>
          <a:ln w="12700">
            <a:solidFill>
              <a:srgbClr val="2A5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nity-ai-gateway.png"/>
          <p:cNvPicPr>
            <a:picLocks noChangeAspect="1"/>
          </p:cNvPicPr>
          <p:nvPr/>
        </p:nvPicPr>
        <p:blipFill>
          <a:blip r:embed="rId3"/>
          <a:srcRect l="94" r="94"/>
          <a:stretch>
            <a:fillRect/>
          </a:stretch>
        </p:blipFill>
        <p:spPr>
          <a:xfrm>
            <a:off x="7223760" y="1389888"/>
            <a:ext cx="4389120" cy="20482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23760" y="3511296"/>
            <a:ext cx="4389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FB0AA"/>
                </a:solidFill>
                <a:latin typeface="Arial"/>
              </a:rPr>
              <a:t>Unity Gateway · modelo governado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2048" y="3822191"/>
            <a:ext cx="4297680" cy="2057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1">
                <a:solidFill>
                  <a:srgbClr val="73E0C3"/>
                </a:solidFill>
                <a:latin typeface="Arial"/>
              </a:rPr>
              <a:t>• </a:t>
            </a:r>
            <a:r>
              <a:rPr sz="1250">
                <a:solidFill>
                  <a:srgbClr val="DCEDEA"/>
                </a:solidFill>
                <a:latin typeface="Arial"/>
              </a:rPr>
              <a:t>Identidade do proxy Databricks Apps; tokens OAuth não persistidos.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1">
                <a:solidFill>
                  <a:srgbClr val="73E0C3"/>
                </a:solidFill>
                <a:latin typeface="Arial"/>
              </a:rPr>
              <a:t>• </a:t>
            </a:r>
            <a:r>
              <a:rPr sz="1250">
                <a:solidFill>
                  <a:srgbClr val="DCEDEA"/>
                </a:solidFill>
                <a:latin typeface="Arial"/>
              </a:rPr>
              <a:t>RBAC e território avaliados antes de consultar dados.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1">
                <a:solidFill>
                  <a:srgbClr val="73E0C3"/>
                </a:solidFill>
                <a:latin typeface="Arial"/>
              </a:rPr>
              <a:t>• </a:t>
            </a:r>
            <a:r>
              <a:rPr sz="1250">
                <a:solidFill>
                  <a:srgbClr val="DCEDEA"/>
                </a:solidFill>
                <a:latin typeface="Arial"/>
              </a:rPr>
              <a:t>Quetzal IQ usa ferramentas curadas; não recebe SQL arbitrário.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1">
                <a:solidFill>
                  <a:srgbClr val="73E0C3"/>
                </a:solidFill>
                <a:latin typeface="Arial"/>
              </a:rPr>
              <a:t>• </a:t>
            </a:r>
            <a:r>
              <a:rPr sz="1250">
                <a:solidFill>
                  <a:srgbClr val="DCEDEA"/>
                </a:solidFill>
                <a:latin typeface="Arial"/>
              </a:rPr>
              <a:t>OntoBricks limitado a intenções MCP read-only.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1">
                <a:solidFill>
                  <a:srgbClr val="73E0C3"/>
                </a:solidFill>
                <a:latin typeface="Arial"/>
              </a:rPr>
              <a:t>• </a:t>
            </a:r>
            <a:r>
              <a:rPr sz="1250">
                <a:solidFill>
                  <a:srgbClr val="DCEDEA"/>
                </a:solidFill>
                <a:latin typeface="Arial"/>
              </a:rPr>
              <a:t>Solicitante e aprovador são identidades distintas no Lakebase.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65392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8FB0AA"/>
                </a:solidFill>
                <a:latin typeface="Arial"/>
              </a:rPr>
              <a:t>QUETZAL · CONEXÃO SEM FRONTEIRAS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28832" y="6547104"/>
            <a:ext cx="38404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8FB0A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3E0C3"/>
                </a:solidFill>
                <a:latin typeface="Arial"/>
              </a:rPr>
              <a:t>10 · EVIDÊNCIA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10642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7FBFA"/>
                </a:solidFill>
                <a:latin typeface="Arial"/>
              </a:rPr>
              <a:t>A jornada está ancorada em execução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41832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B0AA"/>
                </a:solidFill>
                <a:latin typeface="Arial"/>
              </a:rPr>
              <a:t>Históricos reais foram reutilizados; nenhum pipeline, treino ou Genie foi disparado para o deck.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" y="1417320"/>
            <a:ext cx="2606040" cy="1316736"/>
          </a:xfrm>
          <a:prstGeom prst="roundRect">
            <a:avLst/>
          </a:prstGeom>
          <a:solidFill>
            <a:srgbClr val="0B2423"/>
          </a:solidFill>
          <a:ln w="12700">
            <a:solidFill>
              <a:srgbClr val="214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1527048"/>
            <a:ext cx="231343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73E0C3"/>
                </a:solidFill>
                <a:latin typeface="Arial"/>
              </a:rPr>
              <a:t>APP PUBLICADO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1773936"/>
            <a:ext cx="231343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3E0C3"/>
                </a:solidFill>
                <a:latin typeface="Arial"/>
              </a:rPr>
              <a:t>RUNNING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167128"/>
            <a:ext cx="2313432" cy="49377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FB0AA"/>
                </a:solidFill>
                <a:latin typeface="Arial"/>
              </a:rPr>
              <a:t>Compute ACTIVE · deployment SUCCEEDED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1417320"/>
            <a:ext cx="2606040" cy="1316736"/>
          </a:xfrm>
          <a:prstGeom prst="roundRect">
            <a:avLst/>
          </a:prstGeom>
          <a:solidFill>
            <a:srgbClr val="0B2423"/>
          </a:solidFill>
          <a:ln w="12700">
            <a:solidFill>
              <a:srgbClr val="214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527048"/>
            <a:ext cx="231343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73E0C3"/>
                </a:solidFill>
                <a:latin typeface="Arial"/>
              </a:rPr>
              <a:t>LAKEFLOW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1773936"/>
            <a:ext cx="231343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3E0C3"/>
                </a:solidFill>
                <a:latin typeface="Arial"/>
              </a:rPr>
              <a:t>27 / 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167128"/>
            <a:ext cx="2313432" cy="49377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FB0AA"/>
                </a:solidFill>
                <a:latin typeface="Arial"/>
              </a:rPr>
              <a:t>Run 62176317131697 · SUCCESS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417320"/>
            <a:ext cx="2606040" cy="1316736"/>
          </a:xfrm>
          <a:prstGeom prst="roundRect">
            <a:avLst/>
          </a:prstGeom>
          <a:solidFill>
            <a:srgbClr val="0B2423"/>
          </a:solidFill>
          <a:ln w="12700">
            <a:solidFill>
              <a:srgbClr val="214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527048"/>
            <a:ext cx="231343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73E0C3"/>
                </a:solidFill>
                <a:latin typeface="Arial"/>
              </a:rPr>
              <a:t>GENIE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1773936"/>
            <a:ext cx="231343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3E0C3"/>
                </a:solidFill>
                <a:latin typeface="Arial"/>
              </a:rPr>
              <a:t>10 linhas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167128"/>
            <a:ext cx="2313432" cy="49377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FB0AA"/>
                </a:solidFill>
                <a:latin typeface="Arial"/>
              </a:rPr>
              <a:t>Statement 01f1bb5c… · SUCCEEDED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417320"/>
            <a:ext cx="2542032" cy="1316736"/>
          </a:xfrm>
          <a:prstGeom prst="roundRect">
            <a:avLst/>
          </a:prstGeom>
          <a:solidFill>
            <a:srgbClr val="0B2423"/>
          </a:solidFill>
          <a:ln w="12700">
            <a:solidFill>
              <a:srgbClr val="214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98864" y="1527048"/>
            <a:ext cx="224942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73E0C3"/>
                </a:solidFill>
                <a:latin typeface="Arial"/>
              </a:rPr>
              <a:t>VALIDAÇÃO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4" y="1773936"/>
            <a:ext cx="2249424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3E0C3"/>
                </a:solidFill>
                <a:latin typeface="Arial"/>
              </a:rPr>
              <a:t>114 testes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8864" y="2167128"/>
            <a:ext cx="2249424" cy="49377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FB0AA"/>
                </a:solidFill>
                <a:latin typeface="Arial"/>
              </a:rPr>
              <a:t>Ruff · frontend · DAB aprovados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" y="3054096"/>
            <a:ext cx="5650992" cy="2999232"/>
          </a:xfrm>
          <a:prstGeom prst="roundRect">
            <a:avLst/>
          </a:prstGeom>
          <a:solidFill>
            <a:srgbClr val="2A514B"/>
          </a:solidFill>
          <a:ln w="12700">
            <a:solidFill>
              <a:srgbClr val="2A5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genie-response-chart.png"/>
          <p:cNvPicPr>
            <a:picLocks noChangeAspect="1"/>
          </p:cNvPicPr>
          <p:nvPr/>
        </p:nvPicPr>
        <p:blipFill>
          <a:blip r:embed="rId2"/>
          <a:srcRect t="10031" b="10031"/>
          <a:stretch>
            <a:fillRect/>
          </a:stretch>
        </p:blipFill>
        <p:spPr>
          <a:xfrm>
            <a:off x="576072" y="3090672"/>
            <a:ext cx="5577840" cy="29260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6072" y="6089904"/>
            <a:ext cx="5577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FB0AA"/>
                </a:solidFill>
                <a:latin typeface="Arial"/>
              </a:rPr>
              <a:t>Pergunta real com visualização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090672"/>
            <a:ext cx="5193792" cy="2926080"/>
          </a:xfrm>
          <a:prstGeom prst="roundRect">
            <a:avLst/>
          </a:prstGeom>
          <a:solidFill>
            <a:srgbClr val="0B2423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364992"/>
            <a:ext cx="24688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3E0C3"/>
                </a:solidFill>
                <a:latin typeface="Arial"/>
              </a:rPr>
              <a:t>PERGUNTA COMPROVADA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694176"/>
            <a:ext cx="4553712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7FBFA"/>
                </a:solidFill>
                <a:latin typeface="Arial"/>
              </a:rPr>
              <a:t>“Cuales son los clientes con el mayor potencial de abandono?”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681728"/>
            <a:ext cx="4553712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DCEDEA"/>
                </a:solidFill>
                <a:latin typeface="Arial"/>
              </a:rPr>
              <a:t>A evidência versionada preserva SQL exato, schema, dez linhas mascaradas e a resposta original do Genie.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486400"/>
            <a:ext cx="45262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0D99B"/>
                </a:solidFill>
                <a:latin typeface="Arial"/>
              </a:rPr>
              <a:t>Lakeflow: update e558c15d… COMPLETED · full refresh manual · sem agenda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565392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8FB0AA"/>
                </a:solidFill>
                <a:latin typeface="Arial"/>
              </a:rPr>
              <a:t>QUETZAL · CONEXÃO SEM FRONTEIRAS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28832" y="6547104"/>
            <a:ext cx="38404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8FB0A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3E0C3"/>
                </a:solidFill>
                <a:latin typeface="Arial"/>
              </a:rPr>
              <a:t>11 · LIMITES E CONTRIBUIÇÃO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10642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7FBFA"/>
                </a:solidFill>
                <a:latin typeface="Arial"/>
              </a:rPr>
              <a:t>O que a demo prova — e o que ainda não prova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41832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B0AA"/>
                </a:solidFill>
                <a:latin typeface="Arial"/>
              </a:rPr>
              <a:t>Fronteiras explícitas tornam a conversa com o cliente mais confiável.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" y="1417320"/>
            <a:ext cx="5440680" cy="4526280"/>
          </a:xfrm>
          <a:prstGeom prst="roundRect">
            <a:avLst/>
          </a:prstGeom>
          <a:solidFill>
            <a:srgbClr val="0B2423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700784"/>
            <a:ext cx="18288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8B768"/>
                </a:solidFill>
                <a:latin typeface="Arial"/>
              </a:rPr>
              <a:t>LIMITAÇÕES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103120"/>
            <a:ext cx="4828032" cy="3429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D8B768"/>
                </a:solidFill>
                <a:latin typeface="Arial"/>
              </a:rPr>
              <a:t>• </a:t>
            </a:r>
            <a:r>
              <a:rPr sz="1450">
                <a:solidFill>
                  <a:srgbClr val="DCEDEA"/>
                </a:solidFill>
                <a:latin typeface="Arial"/>
              </a:rPr>
              <a:t>Dados, eventos e resultados são sintéticos e demonstrativos.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D8B768"/>
                </a:solidFill>
                <a:latin typeface="Arial"/>
              </a:rPr>
              <a:t>• </a:t>
            </a:r>
            <a:r>
              <a:rPr sz="1450">
                <a:solidFill>
                  <a:srgbClr val="DCEDEA"/>
                </a:solidFill>
                <a:latin typeface="Arial"/>
              </a:rPr>
              <a:t>Scores extremos não provam calibração produtiva.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D8B768"/>
                </a:solidFill>
                <a:latin typeface="Arial"/>
              </a:rPr>
              <a:t>• </a:t>
            </a:r>
            <a:r>
              <a:rPr sz="1450">
                <a:solidFill>
                  <a:srgbClr val="DCEDEA"/>
                </a:solidFill>
                <a:latin typeface="Arial"/>
              </a:rPr>
              <a:t>Relação e grupo indicam associação, nunca causalidade.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D8B768"/>
                </a:solidFill>
                <a:latin typeface="Arial"/>
              </a:rPr>
              <a:t>• </a:t>
            </a:r>
            <a:r>
              <a:rPr sz="1450">
                <a:solidFill>
                  <a:srgbClr val="DCEDEA"/>
                </a:solidFill>
                <a:latin typeface="Arial"/>
              </a:rPr>
              <a:t>Conversão, retenção, receita e ROI são contrafactuais.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D8B768"/>
                </a:solidFill>
                <a:latin typeface="Arial"/>
              </a:rPr>
              <a:t>• </a:t>
            </a:r>
            <a:r>
              <a:rPr sz="1450">
                <a:solidFill>
                  <a:srgbClr val="DCEDEA"/>
                </a:solidFill>
                <a:latin typeface="Arial"/>
              </a:rPr>
              <a:t>Conectores e controles finais dependem dos sistemas do cliente.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D8B768"/>
                </a:solidFill>
                <a:latin typeface="Arial"/>
              </a:rPr>
              <a:t>• </a:t>
            </a:r>
            <a:r>
              <a:rPr sz="1450">
                <a:solidFill>
                  <a:srgbClr val="DCEDEA"/>
                </a:solidFill>
                <a:latin typeface="Arial"/>
              </a:rPr>
              <a:t>Escala, custo, SLAs e qualidade precisam de dados reais.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17320"/>
            <a:ext cx="5349240" cy="4526280"/>
          </a:xfrm>
          <a:prstGeom prst="roundRect">
            <a:avLst/>
          </a:prstGeom>
          <a:solidFill>
            <a:srgbClr val="10302E"/>
          </a:solidFill>
          <a:ln w="12700">
            <a:solidFill>
              <a:srgbClr val="2B5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00784"/>
            <a:ext cx="310896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3E0C3"/>
                </a:solidFill>
                <a:latin typeface="Arial"/>
              </a:rPr>
              <a:t>CONTRIBUIÇÃO DO BUILD ATUAL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103120"/>
            <a:ext cx="4709160" cy="3566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73E0C3"/>
                </a:solidFill>
                <a:latin typeface="Arial"/>
              </a:rPr>
              <a:t>• </a:t>
            </a:r>
            <a:r>
              <a:rPr sz="1450">
                <a:solidFill>
                  <a:srgbClr val="DCEDEA"/>
                </a:solidFill>
                <a:latin typeface="Arial"/>
              </a:rPr>
              <a:t>Redesign visual responsivo e identidade Quetzal.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73E0C3"/>
                </a:solidFill>
                <a:latin typeface="Arial"/>
              </a:rPr>
              <a:t>• </a:t>
            </a:r>
            <a:r>
              <a:rPr sz="1450">
                <a:solidFill>
                  <a:srgbClr val="DCEDEA"/>
                </a:solidFill>
                <a:latin typeface="Arial"/>
              </a:rPr>
              <a:t>Backend com autenticação, RBAC e falha segura.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73E0C3"/>
                </a:solidFill>
                <a:latin typeface="Arial"/>
              </a:rPr>
              <a:t>• </a:t>
            </a:r>
            <a:r>
              <a:rPr sz="1450">
                <a:solidFill>
                  <a:srgbClr val="DCEDEA"/>
                </a:solidFill>
                <a:latin typeface="Arial"/>
              </a:rPr>
              <a:t>Lakeflow/ML recuperados e parametrizados, sem agendas caras.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73E0C3"/>
                </a:solidFill>
                <a:latin typeface="Arial"/>
              </a:rPr>
              <a:t>• </a:t>
            </a:r>
            <a:r>
              <a:rPr sz="1450">
                <a:solidFill>
                  <a:srgbClr val="DCEDEA"/>
                </a:solidFill>
                <a:latin typeface="Arial"/>
              </a:rPr>
              <a:t>Cliente 360, SLA, Voz do Cliente e campanhas governadas.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73E0C3"/>
                </a:solidFill>
                <a:latin typeface="Arial"/>
              </a:rPr>
              <a:t>• </a:t>
            </a:r>
            <a:r>
              <a:rPr sz="1450">
                <a:solidFill>
                  <a:srgbClr val="DCEDEA"/>
                </a:solidFill>
                <a:latin typeface="Arial"/>
              </a:rPr>
              <a:t>Genie, Quetzal IQ, Lakebase, memória e pesquisa com fontes.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73E0C3"/>
                </a:solidFill>
                <a:latin typeface="Arial"/>
              </a:rPr>
              <a:t>• </a:t>
            </a:r>
            <a:r>
              <a:rPr sz="1450">
                <a:solidFill>
                  <a:srgbClr val="DCEDEA"/>
                </a:solidFill>
                <a:latin typeface="Arial"/>
              </a:rPr>
              <a:t>Graph Intelligence + OntoBricks transformados em fluxo útil.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73E0C3"/>
                </a:solidFill>
                <a:latin typeface="Arial"/>
              </a:rPr>
              <a:t>• </a:t>
            </a:r>
            <a:r>
              <a:rPr sz="1450">
                <a:solidFill>
                  <a:srgbClr val="DCEDEA"/>
                </a:solidFill>
                <a:latin typeface="Arial"/>
              </a:rPr>
              <a:t>DAB, testes e evidências como base de reconstrução segura.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6108192"/>
            <a:ext cx="6217920" cy="27432"/>
          </a:xfrm>
          <a:prstGeom prst="rect">
            <a:avLst/>
          </a:prstGeom>
          <a:solidFill>
            <a:srgbClr val="D8B768"/>
          </a:solidFill>
          <a:ln w="12700">
            <a:solidFill>
              <a:srgbClr val="D8B7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6236208"/>
            <a:ext cx="8138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0D99B"/>
                </a:solidFill>
                <a:latin typeface="Arial"/>
              </a:rPr>
              <a:t>Um ativo reproduzível, explicável e pronto para receber a realidade do cliente.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565392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8FB0AA"/>
                </a:solidFill>
                <a:latin typeface="Arial"/>
              </a:rPr>
              <a:t>QUETZAL · CONEXÃO SEM FRONTEIRAS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8832" y="6547104"/>
            <a:ext cx="38404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8FB0A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3E0C3"/>
                </a:solidFill>
                <a:latin typeface="Arial"/>
              </a:rPr>
              <a:t>12 · PRÓXIMO PASSO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10642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7FBFA"/>
                </a:solidFill>
                <a:latin typeface="Arial"/>
              </a:rPr>
              <a:t>Reconstruir com a realidade do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41832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B0AA"/>
                </a:solidFill>
                <a:latin typeface="Arial"/>
              </a:rPr>
              <a:t>A demo vira produto quando dados, políticas e resultados observados substituem as hipóteses.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417320"/>
            <a:ext cx="4572000" cy="1078992"/>
          </a:xfrm>
          <a:prstGeom prst="roundRect">
            <a:avLst/>
          </a:prstGeom>
          <a:solidFill>
            <a:srgbClr val="0B2423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81912"/>
            <a:ext cx="4114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8B768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" y="1545336"/>
            <a:ext cx="12344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7FBFA"/>
                </a:solidFill>
                <a:latin typeface="Arial"/>
              </a:rPr>
              <a:t>Mapear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1892808"/>
            <a:ext cx="35935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FB0AA"/>
                </a:solidFill>
                <a:latin typeface="Arial"/>
              </a:rPr>
              <a:t>OSS, BSS, CRM, billing, NPS, consentimento e contratos.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2761488"/>
            <a:ext cx="4572000" cy="1078992"/>
          </a:xfrm>
          <a:prstGeom prst="roundRect">
            <a:avLst/>
          </a:prstGeom>
          <a:solidFill>
            <a:srgbClr val="0B2423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926080"/>
            <a:ext cx="4114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8B768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2889504"/>
            <a:ext cx="12344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7FBFA"/>
                </a:solidFill>
                <a:latin typeface="Arial"/>
              </a:rPr>
              <a:t>Governar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3236976"/>
            <a:ext cx="35935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FB0AA"/>
                </a:solidFill>
                <a:latin typeface="Arial"/>
              </a:rPr>
              <a:t>Identidade, território, papéis, retenção e aprovação.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105656"/>
            <a:ext cx="4572000" cy="1078992"/>
          </a:xfrm>
          <a:prstGeom prst="roundRect">
            <a:avLst/>
          </a:prstGeom>
          <a:solidFill>
            <a:srgbClr val="0B2423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270248"/>
            <a:ext cx="4114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8B768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4233672"/>
            <a:ext cx="12344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7FBFA"/>
                </a:solidFill>
                <a:latin typeface="Arial"/>
              </a:rPr>
              <a:t>Recalibrar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4581144"/>
            <a:ext cx="35935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FB0AA"/>
                </a:solidFill>
                <a:latin typeface="Arial"/>
              </a:rPr>
              <a:t>Labels, features, scores e custos com tempo real observado.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32120" y="1417320"/>
            <a:ext cx="4572000" cy="1078992"/>
          </a:xfrm>
          <a:prstGeom prst="roundRect">
            <a:avLst/>
          </a:prstGeom>
          <a:solidFill>
            <a:srgbClr val="0B2423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1581912"/>
            <a:ext cx="4114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8B768"/>
                </a:solidFill>
                <a:latin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545336"/>
            <a:ext cx="12344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7FBFA"/>
                </a:solidFill>
                <a:latin typeface="Arial"/>
              </a:rPr>
              <a:t>Homologar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892808"/>
            <a:ext cx="35935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FB0AA"/>
                </a:solidFill>
                <a:latin typeface="Arial"/>
              </a:rPr>
              <a:t>Ações e ofertas com rede, atendimento, jurídico e segurança.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32120" y="2761488"/>
            <a:ext cx="4572000" cy="1078992"/>
          </a:xfrm>
          <a:prstGeom prst="roundRect">
            <a:avLst/>
          </a:prstGeom>
          <a:solidFill>
            <a:srgbClr val="0B2423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5000" y="2926080"/>
            <a:ext cx="4114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8B768"/>
                </a:solidFill>
                <a:latin typeface="Arial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889504"/>
            <a:ext cx="12344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7FBFA"/>
                </a:solidFill>
                <a:latin typeface="Arial"/>
              </a:rPr>
              <a:t>Medir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236976"/>
            <a:ext cx="35935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FB0AA"/>
                </a:solidFill>
                <a:latin typeface="Arial"/>
              </a:rPr>
              <a:t>Uplift controlado e reconciliação do resultado realizado.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32120" y="4105656"/>
            <a:ext cx="4572000" cy="1078992"/>
          </a:xfrm>
          <a:prstGeom prst="roundRect">
            <a:avLst/>
          </a:prstGeom>
          <a:solidFill>
            <a:srgbClr val="0B2423"/>
          </a:solidFill>
          <a:ln w="12700">
            <a:solidFill>
              <a:srgbClr val="28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4270248"/>
            <a:ext cx="4114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8B768"/>
                </a:solidFill>
                <a:latin typeface="Arial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233672"/>
            <a:ext cx="12344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7FBFA"/>
                </a:solidFill>
                <a:latin typeface="Arial"/>
              </a:rPr>
              <a:t>Promover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581144"/>
            <a:ext cx="35935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FB0AA"/>
                </a:solidFill>
                <a:latin typeface="Arial"/>
              </a:rPr>
              <a:t>DEV → HML → PROD com Databricks Asset Bundles.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23576" y="1316736"/>
            <a:ext cx="1371600" cy="4599432"/>
          </a:xfrm>
          <a:prstGeom prst="roundRect">
            <a:avLst/>
          </a:prstGeom>
          <a:solidFill>
            <a:srgbClr val="2A514B"/>
          </a:solidFill>
          <a:ln w="12700">
            <a:solidFill>
              <a:srgbClr val="2A5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mobile-command-center.png"/>
          <p:cNvPicPr>
            <a:picLocks noChangeAspect="1"/>
          </p:cNvPicPr>
          <p:nvPr/>
        </p:nvPicPr>
        <p:blipFill>
          <a:blip r:embed="rId2"/>
          <a:srcRect l="18959" r="18959"/>
          <a:stretch>
            <a:fillRect/>
          </a:stretch>
        </p:blipFill>
        <p:spPr>
          <a:xfrm>
            <a:off x="10360152" y="1353312"/>
            <a:ext cx="1298448" cy="45262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360152" y="5952744"/>
            <a:ext cx="12984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FB0AA"/>
                </a:solidFill>
                <a:latin typeface="Arial"/>
              </a:rPr>
              <a:t>Experiência móvel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" y="5669280"/>
            <a:ext cx="9418320" cy="566928"/>
          </a:xfrm>
          <a:prstGeom prst="roundRect">
            <a:avLst/>
          </a:prstGeom>
          <a:solidFill>
            <a:srgbClr val="12332F"/>
          </a:solidFill>
          <a:ln w="12700">
            <a:solidFill>
              <a:srgbClr val="D8B7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824728"/>
            <a:ext cx="89154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0D99B"/>
                </a:solidFill>
                <a:latin typeface="Arial"/>
              </a:rPr>
              <a:t>Quetzal transforma alcance em contexto — e contexto em decisão responsável.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565392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8FB0AA"/>
                </a:solidFill>
                <a:latin typeface="Arial"/>
              </a:rPr>
              <a:t>QUETZAL · CONEXÃO SEM FRONTEIRAS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28832" y="6547104"/>
            <a:ext cx="38404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8FB0AA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Quetzal — alcance sem fronteiras</dc:title>
  <dc:subject>Quetzal Telecom Command Center</dc:subject>
  <dc:creator>Quetzal Command Center</dc:creator>
  <cp:keywords/>
  <dc:description>Deck executivo editável. Capturas do deployment publicado; dados sintéticos.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